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769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1A1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Outerwear</c:v>
                  </c:pt>
                  <c:pt idx="1">
                    <c:v>Footwear</c:v>
                  </c:pt>
                  <c:pt idx="2">
                    <c:v>Accessories</c:v>
                  </c:pt>
                  <c:pt idx="3">
                    <c:v>Clothing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18524</c:v>
                </c:pt>
                <c:pt idx="1">
                  <c:v>36093</c:v>
                </c:pt>
                <c:pt idx="2">
                  <c:v>74200</c:v>
                </c:pt>
                <c:pt idx="3">
                  <c:v>104264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B1A1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66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66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769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1A1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
(18–31)</c:v>
                  </c:pt>
                  <c:pt idx="1">
                    <c:v>Adult
(32–44)</c:v>
                  </c:pt>
                  <c:pt idx="2">
                    <c:v>Middle-aged
(45–57)</c:v>
                  </c:pt>
                  <c:pt idx="3">
                    <c:v>Senior
(58–70)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55978</c:v>
                </c:pt>
                <c:pt idx="2">
                  <c:v>59197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B1A1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66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66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D3E0"/>
              </a:solidFill>
              <a:effectLst/>
            </c:spPr>
          </c:dPt>
          <c:dPt>
            <c:idx val="1"/>
            <c:bubble3D val="0"/>
            <c:spPr>
              <a:solidFill>
                <a:srgbClr val="1F769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subscribed</c:v>
                </c:pt>
                <c:pt idx="1">
                  <c:v>Subscribed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A1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F76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A1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New (1 purchase)</c:v>
                  </c:pt>
                  <c:pt idx="1">
                    <c:v>Returning (2–10)</c:v>
                  </c:pt>
                  <c:pt idx="2">
                    <c:v>Loyal (11+)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</c:v>
                </c:pt>
                <c:pt idx="1">
                  <c:v>701</c:v>
                </c:pt>
                <c:pt idx="2">
                  <c:v>3116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A1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66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66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we analyzed 3,900 purchases end to end. One sentence on the pipeline: Python for cleaning, PostgreSQL for analysis, Power BI for the dashboard. Then go straight to the executive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KPI row left to right. Then the three messages: concentration, discount inefficiency, thin acquisition funnel. Everything after this slide is evidence for these three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max. The point is credibility: every number in this deck can be regenerated from the raw CSV. Mention the 37 imputed ratings were filled with category medians, and promo_code_used was dropped after proving it duplicated discount_applied. If asked about the dashboard: I audited every visual's field bindings and found the charts summing customer_id instead of counting customers - replaced with an explicit COUNT measure; report section 5 documents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is the evidence, card is the implication. Key nuance: order counts follow the same order as revenue, so this is demand volume, not pricing — every category averages $57-62 per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punchline is the right-hand pair of numbers: per-customer spend is virtually identical — female customers actually edge ahead. So the 67.7% male revenue share is a customer-count story. Acquisition closes it, not basket persuasion.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Young Adults 18-31 top the chart at $62K, but the spread is only 11% top to bottom. Implication: media can stay broad; tilt creative slightly younger. Age groups are equal-sized quartiles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Doughnut: only 27% subscribe. The two stat rows kill the assumption that subscribers outspend: 38 cents apart per order, and repeat buyers subscribe at basically the base rate. Recommendation preview: frequency perks aimed at 2,518 repeat non-subscribers.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Center comparison: discounted baskets are actually 85 cents SMALLER. But 839 customers used a discount and still spent above average — the smart-shopper segment. Right panel: five items effectively half-off. Policy: cap them, move to threshold offers.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3,116 customers have 11+ prior purchases — the business runs on veterans. But only 83 first-timers entered the base. If churn ever catches up, there's no pipeline behind it. Retention and acquisition need separate targets and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satisfaction leaders are practical accessories and footwear. Right: volume heroes are core clothing staples. Cross-merchandising converts goodwill into order value. Seasons are flat, so these pairings can run year-round.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traces to a finding: R1 from slide 7, R2 from slide 8, R3 from slide 5, R4 from slide 10, R5 from the express-shipping analysis in the report. Close by asking for owners and timelines on R1 and R2.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reproducibility — that is the differentiator of an analyst vs a report generator. Offer the appendix-level detail from the PDF report for anyone who wants the SQL behind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188720"/>
            <a:ext cx="4206240" cy="4206240"/>
          </a:xfrm>
          <a:prstGeom prst="ellipse">
            <a:avLst/>
          </a:prstGeom>
          <a:solidFill>
            <a:srgbClr val="1F769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566160"/>
            <a:ext cx="2377440" cy="2377440"/>
          </a:xfrm>
          <a:prstGeom prst="ellipse">
            <a:avLst/>
          </a:prstGeom>
          <a:solidFill>
            <a:srgbClr val="1F769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  ·  PYTHON — SQL — POWER BI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3,900 purchases reveal about revenue, discounts, and loyalty — and the five moves they point to.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 Arya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·  Version 1.1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tell the story — and one of them is a warning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2679192" cy="932688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1490472"/>
            <a:ext cx="2679192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$233,081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457200" y="1976933"/>
            <a:ext cx="2679192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59836" y="1417320"/>
            <a:ext cx="2679192" cy="932688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59836" y="1490472"/>
            <a:ext cx="2679192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259836" y="1976933"/>
            <a:ext cx="2679192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062472" y="1417320"/>
            <a:ext cx="2679192" cy="932688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62472" y="1490472"/>
            <a:ext cx="2679192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6062472" y="1976933"/>
            <a:ext cx="2679192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2478024"/>
            <a:ext cx="2679192" cy="932688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" y="2551176"/>
            <a:ext cx="2679192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5.0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457200" y="3037637"/>
            <a:ext cx="2679192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59836" y="2478024"/>
            <a:ext cx="2679192" cy="932688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259836" y="2551176"/>
            <a:ext cx="2679192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3259836" y="3037637"/>
            <a:ext cx="2679192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062472" y="2478024"/>
            <a:ext cx="2679192" cy="932688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062472" y="2551176"/>
            <a:ext cx="2679192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6062472" y="3037637"/>
            <a:ext cx="2679192" cy="317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5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DISCOUNTED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02920" y="3730752"/>
            <a:ext cx="310896" cy="310896"/>
          </a:xfrm>
          <a:prstGeom prst="ellipse">
            <a:avLst/>
          </a:prstGeom>
          <a:solidFill>
            <a:srgbClr val="1F7692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60120" y="3703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concentrates in Clothing </a:t>
            </a:r>
            <a:pPr indent="0" marL="0">
              <a:buNone/>
            </a:pPr>
            <a:r>
              <a:rPr lang="en-US" sz="135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category, 44.7% of all revenue.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02920" y="4142232"/>
            <a:ext cx="310896" cy="310896"/>
          </a:xfrm>
          <a:prstGeom prst="ellipse">
            <a:avLst/>
          </a:prstGeom>
          <a:solidFill>
            <a:srgbClr val="1F7692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6012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are everywhere but lift nothing </a:t>
            </a:r>
            <a:pPr indent="0" marL="0">
              <a:buNone/>
            </a:pPr>
            <a:r>
              <a:rPr lang="en-US" sz="135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43% of purchases carry one, yet baskets don’t grow.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502920" y="4553712"/>
            <a:ext cx="310896" cy="310896"/>
          </a:xfrm>
          <a:prstGeom prst="ellipse">
            <a:avLst/>
          </a:prstGeom>
          <a:solidFill>
            <a:srgbClr val="1F7692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60120" y="45262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loyal but the funnel is thin </a:t>
            </a:r>
            <a:pPr indent="0" marL="0">
              <a:buNone/>
            </a:pPr>
            <a:r>
              <a:rPr lang="en-US" sz="135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79.9% Loyal customers vs 2.1% first-time buyers.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reproducible pipeline, not a one-off analysis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1956816" cy="1554480"/>
          </a:xfrm>
          <a:prstGeom prst="roundRect">
            <a:avLst>
              <a:gd name="adj" fmla="val 4118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3504" y="1719072"/>
            <a:ext cx="365760" cy="365760"/>
          </a:xfrm>
          <a:prstGeom prst="ellipse">
            <a:avLst/>
          </a:prstGeom>
          <a:solidFill>
            <a:srgbClr val="1F7692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78992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3504" y="22128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enrich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pipeline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395728" y="2084832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670048" y="1554480"/>
            <a:ext cx="1956816" cy="1554480"/>
          </a:xfrm>
          <a:prstGeom prst="roundRect">
            <a:avLst>
              <a:gd name="adj" fmla="val 4118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16352" y="1719072"/>
            <a:ext cx="365760" cy="365760"/>
          </a:xfrm>
          <a:prstGeom prst="ellipse">
            <a:avLst/>
          </a:prstGeom>
          <a:solidFill>
            <a:srgbClr val="1F7692"/>
          </a:solidFill>
          <a:ln/>
        </p:spPr>
      </p:sp>
      <p:sp>
        <p:nvSpPr>
          <p:cNvPr id="15" name="Text 12"/>
          <p:cNvSpPr/>
          <p:nvPr/>
        </p:nvSpPr>
        <p:spPr>
          <a:xfrm>
            <a:off x="281635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291840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816352" y="22128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questions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08576" y="2084832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882896" y="1554480"/>
            <a:ext cx="1956816" cy="1554480"/>
          </a:xfrm>
          <a:prstGeom prst="roundRect">
            <a:avLst>
              <a:gd name="adj" fmla="val 4118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29200" y="1719072"/>
            <a:ext cx="365760" cy="365760"/>
          </a:xfrm>
          <a:prstGeom prst="ellipse">
            <a:avLst/>
          </a:prstGeom>
          <a:solidFill>
            <a:srgbClr val="1F7692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504688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029200" y="22128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DAX measures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21424" y="2084832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095744" y="1554480"/>
            <a:ext cx="1956816" cy="1554480"/>
          </a:xfrm>
          <a:prstGeom prst="roundRect">
            <a:avLst>
              <a:gd name="adj" fmla="val 4118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242048" y="1719072"/>
            <a:ext cx="365760" cy="365760"/>
          </a:xfrm>
          <a:prstGeom prst="ellipse">
            <a:avLst/>
          </a:prstGeom>
          <a:solidFill>
            <a:srgbClr val="1F7692"/>
          </a:solidFill>
          <a:ln/>
        </p:spPr>
      </p:sp>
      <p:sp>
        <p:nvSpPr>
          <p:cNvPr id="27" name="Text 24"/>
          <p:cNvSpPr/>
          <p:nvPr/>
        </p:nvSpPr>
        <p:spPr>
          <a:xfrm>
            <a:off x="724204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717536" y="1755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deck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242048" y="22128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→ actions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facts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customers × 18 attributes · all 50 US states · ages 18–70 · four categories · four seasons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missing ratings imputed with category medians · promo_code_used dropped (identical to discount_applied in 100% of rows)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 Shopping Trends Dataset (Kaggle) — synthetic retail data; snapshot per customer, no transaction dates.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CATEGORY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drives nearly half of revenue; Outerwear is an afterthought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41732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172200" y="141732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1F3A5F"/>
          </a:solidFill>
          <a:ln/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336792" y="1508760"/>
            <a:ext cx="22768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spc="300" kern="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Clothing: $104K (44.7%) from 1,737 orders. Concentration is volume, not price — every category averages $57–$62 per order.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Outerwear: $18.5K (7.9%). Candidate for range rationalization.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5902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category, USD · n = 3,900 purchases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DEMAND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gender revenue gap is about audience size, not spending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977640" cy="2103120"/>
          </a:xfrm>
          <a:prstGeom prst="roundRect">
            <a:avLst>
              <a:gd name="adj" fmla="val 3043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627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28600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2,652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286000" y="2487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$157,890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5800" y="2962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customer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286000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$59.54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709160" y="1463040"/>
            <a:ext cx="3977640" cy="2103120"/>
          </a:xfrm>
          <a:prstGeom prst="roundRect">
            <a:avLst>
              <a:gd name="adj" fmla="val 3043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37760" y="1627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3776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3796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1,248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93776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37960" y="2487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$75,191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937760" y="2962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customer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37960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$60.25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F3A5F"/>
          </a:solidFill>
          <a:ln/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21792" y="384048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spc="300" kern="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spend is statistically identical — female customers edge ahead. Base parity would imply roughly $83K of headroom: grow the audience, not the basket.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DEMAND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 adults lead, but no age cohort is weak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41732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172200" y="141732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1F3A5F"/>
          </a:solidFill>
          <a:ln/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336792" y="1508760"/>
            <a:ext cx="22768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spc="300" kern="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cohort: Young Adults, $62,143.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Bottom-to-top spread is only 11% — spending does not decay with age. Keep targeting broad, with a light tilt to 18–31.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5902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quartile, USD · quartiles sized for equal customer counts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LOYALTY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Subscribers don’t spend more — so sell frequency, not basket size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371600"/>
          <a:ext cx="35661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1481328" y="24871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206240" y="148132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206240" y="17190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$59.49 subscribed  vs  $59.87 not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206240" y="22311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SUBSCRIBING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206240" y="24688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27.6%  vs  27.0% base rate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206240" y="298094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POOL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206240" y="32186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2,518 repeat buyers not subscribed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4206240" y="3794760"/>
            <a:ext cx="4526280" cy="822960"/>
          </a:xfrm>
          <a:prstGeom prst="roundRect">
            <a:avLst>
              <a:gd name="adj" fmla="val 6667"/>
            </a:avLst>
          </a:prstGeom>
          <a:solidFill>
            <a:srgbClr val="1F3A5F"/>
          </a:solidFill>
          <a:ln/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70832" y="3886200"/>
            <a:ext cx="4197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spc="300" kern="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earns retention, not basket. Pitch frequency benefits — free shipping, early access — and measure cadence, not AOV.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PRICING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 of purchases carry a discount that changes nothing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02920" y="2212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3,900 purchases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discounted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97480" y="148132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$59.28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WITH discount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262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0" y="14813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$60.13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without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02920" y="29718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839 “smart shoppers”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discount AND outspent the $59.76 average — worth $66,942 combined.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03720" y="1371600"/>
            <a:ext cx="1874520" cy="3246120"/>
          </a:xfrm>
          <a:prstGeom prst="roundRect">
            <a:avLst>
              <a:gd name="adj" fmla="val 3415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59168" y="149961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DISCOUNT-DEPENDENT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059168" y="1965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19659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50.0%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059168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55280" y="24688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49.7%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059168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55280" y="297180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49.1%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059168" y="3474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955280" y="34747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48.2%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059168" y="3977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955280" y="39776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47.4%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6172200" cy="822960"/>
          </a:xfrm>
          <a:prstGeom prst="roundRect">
            <a:avLst>
              <a:gd name="adj" fmla="val 6667"/>
            </a:avLst>
          </a:prstGeom>
          <a:solidFill>
            <a:srgbClr val="1F3A5F"/>
          </a:solidFill>
          <a:ln/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21792" y="3886200"/>
            <a:ext cx="5843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spc="300" kern="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don’t grow baskets — shift to threshold offers (e.g. spend $70, save 10%) and cap the five ~50%-discounted items.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LOYALTY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 is loyal but almost never refreshes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41732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172200" y="141732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1F3A5F"/>
          </a:solidFill>
          <a:ln/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336792" y="1508760"/>
            <a:ext cx="227685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spc="300" kern="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 of the base is Loyal — revenue rests on veterans.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83 customers (2.1%) are first-time buyers. Set explicit acquisition targets before churn catches up.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59028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by loyalty segment, based on previous purchase history · n = 3,900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PRODUCTS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and revenue crown different heroes — pair them in campaigns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977640" cy="2286000"/>
          </a:xfrm>
          <a:prstGeom prst="roundRect">
            <a:avLst>
              <a:gd name="adj" fmla="val 2800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6093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19751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834640" y="19751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3.86  ★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8580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2834640" y="25237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3.84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85800" y="30723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2834640" y="30723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3.82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4709160" y="1463040"/>
            <a:ext cx="3977640" cy="2286000"/>
          </a:xfrm>
          <a:prstGeom prst="roundRect">
            <a:avLst>
              <a:gd name="adj" fmla="val 2800"/>
            </a:avLst>
          </a:prstGeom>
          <a:solidFill>
            <a:srgbClr val="EDF3F6"/>
          </a:solidFill>
          <a:ln w="9525">
            <a:solidFill>
              <a:srgbClr val="D9E4EA"/>
            </a:solidFill>
            <a:prstDash val="solid"/>
          </a:ln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37760" y="16093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37760" y="19751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Blouse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086600" y="19751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$10,410  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93776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Shirt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086600" y="25237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$10,332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937760" y="30723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Dress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086600" y="30723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1F7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$10,320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457200" y="3950208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  <a:effectLst>
            <a:outerShdw sx="100000" sy="100000" kx="0" ky="0" algn="bl" rotWithShape="0" blurRad="88900" dist="25400" dir="2700000">
              <a:srgbClr val="1B1A18">
                <a:alpha val="1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21792" y="4041648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b="1" spc="300" kern="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satisfaction leaders with volume staples — gloves with winter clothing, boots with denim. Seasonal demand is flat (7.6% spread), so run pairings year-round.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moves, in priority order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347472" cy="347472"/>
          </a:xfrm>
          <a:prstGeom prst="ellipse">
            <a:avLst/>
          </a:prstGeom>
          <a:solidFill>
            <a:srgbClr val="1F7692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24128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subscriptions around frequency benefits — free shipping, early access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0" y="1371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13716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2075688"/>
            <a:ext cx="347472" cy="347472"/>
          </a:xfrm>
          <a:prstGeom prst="ellipse">
            <a:avLst/>
          </a:prstGeom>
          <a:solidFill>
            <a:srgbClr val="1F7692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24128" y="20299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blanket discounts on the five ~50%-discounted items; test threshold offers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0" y="20299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63840" y="20299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1F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2734056"/>
            <a:ext cx="347472" cy="347472"/>
          </a:xfrm>
          <a:prstGeom prst="ellipse">
            <a:avLst/>
          </a:prstGeom>
          <a:solidFill>
            <a:srgbClr val="C9D3E0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024128" y="268833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female-segment acquisition campaign — close the base gap, not the basket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83680" y="26883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63840" y="268833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3392424"/>
            <a:ext cx="347472" cy="347472"/>
          </a:xfrm>
          <a:prstGeom prst="ellipse">
            <a:avLst/>
          </a:prstGeom>
          <a:solidFill>
            <a:srgbClr val="C9D3E0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024128" y="33467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top-rated items with revenue staples in cross-merchandising campaigns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83680" y="334670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863840" y="3346704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" y="4050792"/>
            <a:ext cx="347472" cy="347472"/>
          </a:xfrm>
          <a:prstGeom prst="ellipse">
            <a:avLst/>
          </a:prstGeom>
          <a:solidFill>
            <a:srgbClr val="C9D3E0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24128" y="40050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express-shipping upgrades at checkout (express orders run 3.5% larger)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83680" y="40050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863840" y="40050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50" kern="0" dirty="0">
                <a:solidFill>
                  <a:srgbClr val="7A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017520"/>
            <a:ext cx="4023360" cy="4023360"/>
          </a:xfrm>
          <a:prstGeom prst="ellipse">
            <a:avLst/>
          </a:prstGeom>
          <a:solidFill>
            <a:srgbClr val="1F7692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DECISIONS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in this deck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regenerates from the raw data.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spc="200" kern="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deliverables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notebook (Python) · SQL business questions · Power BI dashboard · Analysis report (PDF) · This deck · README (reproduction guide)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A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 Arya  ·  August 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Rishab Arya</dc:creator>
  <cp:lastModifiedBy>Rishab Arya</cp:lastModifiedBy>
  <cp:revision>1</cp:revision>
  <dcterms:created xsi:type="dcterms:W3CDTF">2026-08-23T19:24:13Z</dcterms:created>
  <dcterms:modified xsi:type="dcterms:W3CDTF">2026-08-23T19:24:13Z</dcterms:modified>
</cp:coreProperties>
</file>